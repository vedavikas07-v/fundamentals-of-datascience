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307" r:id="rId3"/>
    <p:sldId id="291" r:id="rId4"/>
    <p:sldId id="300" r:id="rId5"/>
    <p:sldId id="313" r:id="rId6"/>
    <p:sldId id="314" r:id="rId7"/>
    <p:sldId id="315" r:id="rId8"/>
    <p:sldId id="283" r:id="rId9"/>
    <p:sldId id="302" r:id="rId10"/>
    <p:sldId id="312" r:id="rId11"/>
    <p:sldId id="310" r:id="rId12"/>
    <p:sldId id="288" r:id="rId13"/>
    <p:sldId id="25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5" autoAdjust="0"/>
    <p:restoredTop sz="94689"/>
  </p:normalViewPr>
  <p:slideViewPr>
    <p:cSldViewPr snapToGrid="0">
      <p:cViewPr varScale="1">
        <p:scale>
          <a:sx n="70" d="100"/>
          <a:sy n="70" d="100"/>
        </p:scale>
        <p:origin x="4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72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DA246-63D0-4FD0-A280-893A2FFCA6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3847" y="4919577"/>
            <a:ext cx="4343399" cy="178766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P.Jeevan Kumar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Ganesh Kumar H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b="1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Gandluri</a:t>
            </a:r>
            <a:r>
              <a:rPr lang="en-IN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 Veda Vikas Gowd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061" y="47473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7446" y="2142345"/>
            <a:ext cx="11367174" cy="99706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INSIGHTS OS-AUTOMATED GRID AND RESOURSE DATA DISCOVERY PLATFORM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6" y="4858972"/>
            <a:ext cx="38201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Dr. </a:t>
            </a:r>
            <a:r>
              <a:rPr lang="en-US" sz="2400" b="1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Krishnaraj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Mony</a:t>
            </a:r>
            <a:endParaRPr lang="en-US" sz="2400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Associate Professor/CSE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159447" y="3600355"/>
            <a:ext cx="70450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DSA0404 – Fundamentals of Data Science</a:t>
            </a: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                    Batch :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452350"/>
            <a:ext cx="7421488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an intelligent platform that automates Exploratory Data Analysis (EDA) to simplify data analysis.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automatically performs data profiling, preprocessing, visualization, and statistical analysis on uploaded datasets.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 missing values, duplicate records, outliers, and hidden patterns with minimal user intervention.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 explainable insights, interactive dashboards, and professional analytical reports for better decision-making.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reduces manual effort, saves time, and makes advanced data analytics accessible to students, researchers, and organizations.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A3EAAF-9E3E-7528-139B-CD5FBB37E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287" y="2001829"/>
            <a:ext cx="3708361" cy="363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0" y="51538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" y="1534540"/>
            <a:ext cx="7219816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Dataset Upload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system capable of accepting CSV and Excel datasets while automatically identifying schema, data types, and dataset structure.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Quality Assessment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missing values, duplicate records, inconsistencies, outliers, and overall dataset quality through an intelligent Data Health Score.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Exploratory Data Analysis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statistical summaries, interactive visualizations, and correlation analysis automatically without manual coding.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 Discovery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hidden relationships, trends, clusters, anomalies, and significant statistical patterns within datasets.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DEF9B7-725B-BF21-BA1B-B97688347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055" y="2304288"/>
            <a:ext cx="4284722" cy="341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A1F6-9636-94BA-378A-35A0DBCD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1EAAB-4143-B927-86E6-4A9D1826CC56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23FA88E-B5D1-FFA8-EFA4-FEC14A444A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629" y="210948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607519D-C4FC-7304-0CE8-EABE851C706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2492" y="266723"/>
            <a:ext cx="1520062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C6A09F-9EAA-FE2D-2B59-4E3B9A294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829561"/>
              </p:ext>
            </p:extLst>
          </p:nvPr>
        </p:nvGraphicFramePr>
        <p:xfrm>
          <a:off x="640079" y="1609620"/>
          <a:ext cx="10454641" cy="502339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5762">
                  <a:extLst>
                    <a:ext uri="{9D8B030D-6E8A-4147-A177-3AD203B41FA5}">
                      <a16:colId xmlns:a16="http://schemas.microsoft.com/office/drawing/2014/main" val="3308845341"/>
                    </a:ext>
                  </a:extLst>
                </a:gridCol>
                <a:gridCol w="2749119">
                  <a:extLst>
                    <a:ext uri="{9D8B030D-6E8A-4147-A177-3AD203B41FA5}">
                      <a16:colId xmlns:a16="http://schemas.microsoft.com/office/drawing/2014/main" val="1591102623"/>
                    </a:ext>
                  </a:extLst>
                </a:gridCol>
                <a:gridCol w="1742440">
                  <a:extLst>
                    <a:ext uri="{9D8B030D-6E8A-4147-A177-3AD203B41FA5}">
                      <a16:colId xmlns:a16="http://schemas.microsoft.com/office/drawing/2014/main" val="2944023696"/>
                    </a:ext>
                  </a:extLst>
                </a:gridCol>
                <a:gridCol w="881201">
                  <a:extLst>
                    <a:ext uri="{9D8B030D-6E8A-4147-A177-3AD203B41FA5}">
                      <a16:colId xmlns:a16="http://schemas.microsoft.com/office/drawing/2014/main" val="161964537"/>
                    </a:ext>
                  </a:extLst>
                </a:gridCol>
                <a:gridCol w="1830845">
                  <a:extLst>
                    <a:ext uri="{9D8B030D-6E8A-4147-A177-3AD203B41FA5}">
                      <a16:colId xmlns:a16="http://schemas.microsoft.com/office/drawing/2014/main" val="2188369101"/>
                    </a:ext>
                  </a:extLst>
                </a:gridCol>
                <a:gridCol w="2515274">
                  <a:extLst>
                    <a:ext uri="{9D8B030D-6E8A-4147-A177-3AD203B41FA5}">
                      <a16:colId xmlns:a16="http://schemas.microsoft.com/office/drawing/2014/main" val="3314109689"/>
                    </a:ext>
                  </a:extLst>
                </a:gridCol>
              </a:tblGrid>
              <a:tr h="254414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Addressed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536435616"/>
                  </a:ext>
                </a:extLst>
              </a:tr>
              <a:tr h="954053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DataPrep.EDA</a:t>
                      </a:r>
                      <a:r>
                        <a:rPr lang="en-IN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Task-Centric Exploratory Data Analysis for Data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DataPrep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EDA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and time-consuming data profiling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242194"/>
                  </a:ext>
                </a:extLst>
              </a:tr>
              <a:tr h="954053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pandas-profiling: Exploratory Data Analysis in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Brinkmann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Profiling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automated statistical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820314"/>
                  </a:ext>
                </a:extLst>
              </a:tr>
              <a:tr h="667837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Sweetviz: Automated Visual EDA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 Borrelli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automatic visualization capabilities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191319"/>
                  </a:ext>
                </a:extLst>
              </a:tr>
              <a:tr h="667837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AutoViz: Automatic Visualization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AutoViz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chart 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009301"/>
                  </a:ext>
                </a:extLst>
              </a:tr>
              <a:tr h="1383377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 User Guide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Pedregosa et al.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Clustering, Preprocessing, Anomaly Detection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implementation of machine learning and statistical algorithms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2738429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34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3D4B8-97E9-B37C-C0E8-9300E1576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118" y="1728216"/>
            <a:ext cx="5592241" cy="4730306"/>
          </a:xfrm>
        </p:spPr>
        <p:txBody>
          <a:bodyPr/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Health &amp; Quality Scoring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Checks missing values, duplicates, errors, and inconsistent data.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Profiling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calculates mean, median, minimum, maximum, standard deviation, and data distribution.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&amp; Visualization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graphs and charts to understand energy consumption and generation patterns.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relationships between parameters such as load, voltage, generation, and consumption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43672AEE-5D78-953F-1FF5-F357AD369C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040" y="81915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181A8D6F-49D9-73E5-193B-45824A8A32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3769" y="81915"/>
            <a:ext cx="1520062" cy="134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28E75F-C4C2-5BD8-E999-9B6DCEFE0B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520" y="1424812"/>
            <a:ext cx="5068824" cy="28163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A90499-0FC1-2DF5-0B16-418C801D0B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520" y="4334256"/>
            <a:ext cx="5068824" cy="2406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7A4A74-A17E-86C4-F874-2B5F62658A05}"/>
              </a:ext>
            </a:extLst>
          </p:cNvPr>
          <p:cNvSpPr txBox="1"/>
          <p:nvPr/>
        </p:nvSpPr>
        <p:spPr>
          <a:xfrm>
            <a:off x="2057400" y="546892"/>
            <a:ext cx="7891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Automated Data Analysis &amp; Profiling</a:t>
            </a:r>
          </a:p>
        </p:txBody>
      </p:sp>
    </p:spTree>
    <p:extLst>
      <p:ext uri="{BB962C8B-B14F-4D97-AF65-F5344CB8AC3E}">
        <p14:creationId xmlns:p14="http://schemas.microsoft.com/office/powerpoint/2010/main" val="23092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23987-714E-DF86-1813-7EB2EDA28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4776216" cy="5161979"/>
          </a:xfrm>
        </p:spPr>
        <p:txBody>
          <a:bodyPr>
            <a:norm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Discovery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recurring energy consumption and generation patterns.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unusual energy usage, sudden load changes, and abnormal grid conditions.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Groups similar consumers, resources, or energy usage profiles for better analysis.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Studies energy trends over time and supports demand and generation forecasting.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&amp; Hypothesis 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Validates patterns and determines whether observed changes are statistically significant.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B110169-86FF-AFE1-3C5C-C5FDBA51D9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040" y="81915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47AE7474-FA08-4A11-036C-79E66552A0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3769" y="81915"/>
            <a:ext cx="1520062" cy="134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D7E5EE-A1DA-698D-EBE9-A721B3CA80FA}"/>
              </a:ext>
            </a:extLst>
          </p:cNvPr>
          <p:cNvSpPr txBox="1"/>
          <p:nvPr/>
        </p:nvSpPr>
        <p:spPr>
          <a:xfrm>
            <a:off x="1810512" y="514836"/>
            <a:ext cx="878325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Advanced Pattern, Anomaly &amp; Predictive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693549-9C95-3E49-275B-A57AADE5A7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140" y="1490472"/>
            <a:ext cx="4915345" cy="1728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D4F9FC-3246-DE78-D500-A0D757E10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140" y="3284348"/>
            <a:ext cx="4915345" cy="19551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52C9D2-633D-6048-9630-5B7BA90D5F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140" y="5367528"/>
            <a:ext cx="4915345" cy="149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93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6D15C-31F8-6DF7-EB37-8A7FC7DA5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581912"/>
            <a:ext cx="5539449" cy="4668203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Automated Executive Summaries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concise summaries of important energy and grid insights. </a:t>
            </a:r>
          </a:p>
          <a:p>
            <a:pPr lvl="0"/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Risk Detection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Highlights critical findings, anomalies, risks, and potential operational issues. </a:t>
            </a:r>
          </a:p>
          <a:p>
            <a:pPr lvl="0"/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Recommendations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actionable recommendations based on analyzed data and identified patterns. </a:t>
            </a:r>
          </a:p>
          <a:p>
            <a:pPr lvl="0"/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Comparison &amp; Drift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Compares datasets over time and detects changes, inconsistencies, or data drift. </a:t>
            </a:r>
          </a:p>
          <a:p>
            <a:pPr lvl="0"/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HTML, PDF &amp; DOCX Reports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generates professional reports in multiple formats for easy sharing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BBEA237-3B39-FE0D-17F0-B48B9553A7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040" y="81915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97F58B0-DC81-6864-75CB-2A4BBB37B6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3769" y="81915"/>
            <a:ext cx="1520062" cy="134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C9EE8E-F544-B7CD-33A0-2FF2CA59FE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24812"/>
            <a:ext cx="5948960" cy="2845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FD6D43-8FF0-9A2E-D695-92AECE6982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52544"/>
            <a:ext cx="5948960" cy="24235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2CD859-095F-0374-2FB1-77504663E032}"/>
              </a:ext>
            </a:extLst>
          </p:cNvPr>
          <p:cNvSpPr txBox="1"/>
          <p:nvPr/>
        </p:nvSpPr>
        <p:spPr>
          <a:xfrm>
            <a:off x="3052649" y="514836"/>
            <a:ext cx="59489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 Storytelling &amp; Reporting</a:t>
            </a:r>
          </a:p>
        </p:txBody>
      </p:sp>
    </p:spTree>
    <p:extLst>
      <p:ext uri="{BB962C8B-B14F-4D97-AF65-F5344CB8AC3E}">
        <p14:creationId xmlns:p14="http://schemas.microsoft.com/office/powerpoint/2010/main" val="3703546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387" y="1491165"/>
            <a:ext cx="6540621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EDA tools mainly generate statistical summaries and visualizations without providing meaningful explanations.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often requires significant manual intervention and technical expertise.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tools provide limited support for automated reporting and insight generation.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uses intelligent algorithms to automatically discover correlations, anomalies, and trends that may not be obvious through manual analysis.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9A1816-498E-8282-C597-10778C784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90" y="1896511"/>
            <a:ext cx="4781546" cy="430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A81E-1B63-E255-7143-927A8798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6AA83FF-3DB0-9CB1-14FD-7CCCAD8088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B21EE01-EE9D-DB4E-3649-BAA5D32B53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EFDF4-D7EC-F10B-9AFD-00DFCB0FDF60}"/>
              </a:ext>
            </a:extLst>
          </p:cNvPr>
          <p:cNvSpPr txBox="1"/>
          <p:nvPr/>
        </p:nvSpPr>
        <p:spPr>
          <a:xfrm>
            <a:off x="0" y="61500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6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7DA07-98ED-BB62-705A-0E80F7FE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7801"/>
            <a:ext cx="7214616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Dataset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Accepts CSV and Excel datasets and automatically performs dataset profiling, schema detection, and data type identification.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Data Preprocessing: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Cleans the dataset by handling missing values, removing duplicates, treating outliers, and transforming data for accurate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Generates statistical summaries, interactive visualizations, correlation analysis, and distribution plots automatically.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Discovery &amp; Insight Generation: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Detects hidden patterns, trends, anomalies, clusters, and relationships using statistical and machine learning techniques.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4EF7D6-10B1-7470-613F-6571FDB99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2042667"/>
            <a:ext cx="3166106" cy="36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50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18D428A-36D4-2A11-3761-CAFD28B35556}"/>
              </a:ext>
            </a:extLst>
          </p:cNvPr>
          <p:cNvSpPr txBox="1"/>
          <p:nvPr/>
        </p:nvSpPr>
        <p:spPr>
          <a:xfrm>
            <a:off x="3301679" y="688693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IN" sz="2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  <a:endParaRPr lang="en-I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46730-C137-27F6-73D1-11009C898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28" y="1742265"/>
            <a:ext cx="10287000" cy="4530520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0FAFAC29-AD9A-37BF-F7F3-63E4AE122F1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11" name="object 5">
            <a:extLst>
              <a:ext uri="{FF2B5EF4-FFF2-40B4-BE49-F238E27FC236}">
                <a16:creationId xmlns:a16="http://schemas.microsoft.com/office/drawing/2014/main" id="{38E9E857-AD75-E18C-5B7C-C811A7078B8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1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361710" y="1632030"/>
            <a:ext cx="6363181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automates the complete Exploratory Data Analysis (EDA) process, reducing manual effort and saving time.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improves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by detecting and handling missing values, duplicates, outliers, and inconsistencies automatically.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insights, visualizations, and statistical reports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support effective data-driven decision-making.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accurate, scalable, and user-friendly solution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automated data analysis and pattern discovery.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4354975" y="388129"/>
            <a:ext cx="609407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A13E253F-76EC-BD49-0467-689AE56E7E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C8FD13BF-E57E-49EA-E1D9-2C3C49A8855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789F7E-3C97-73E1-C64A-C9243EC08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010" y="1632030"/>
            <a:ext cx="3960876" cy="448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FDA1-45B4-C727-6F2B-5AC15CCC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A55326D-569C-9DDD-0204-61E73EEFAC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F2C6699-20DF-DAFE-4B4A-2035CB1BD9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D8D035-8B7A-F12E-7AB5-9EC906849E4B}"/>
              </a:ext>
            </a:extLst>
          </p:cNvPr>
          <p:cNvSpPr txBox="1"/>
          <p:nvPr/>
        </p:nvSpPr>
        <p:spPr>
          <a:xfrm>
            <a:off x="-211016" y="53992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REFERNCES</a:t>
            </a:r>
            <a:endParaRPr lang="en-US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7D85B-8A76-CBA3-7DCA-0D57390194D2}"/>
              </a:ext>
            </a:extLst>
          </p:cNvPr>
          <p:cNvSpPr txBox="1"/>
          <p:nvPr/>
        </p:nvSpPr>
        <p:spPr>
          <a:xfrm>
            <a:off x="720591" y="1705017"/>
            <a:ext cx="10750818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Kumar, S. Verma, and P. Singh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“Automated Exploratory Data Analysis Using Artificial Intelligence Techniques,”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International Conference on Data Science and Advanced Analytics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112–118, 2024.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McKinney, J. Reback, and P. Hoefler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“Pandas: Powerful Data Analysis and Manipulation Library for Python,”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Open Source Software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95, pp. 1–8, 2024.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Pedregosa, G.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Varoquaux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Gramfort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“Scikit-learn: Machine Learning in Python for Data Analysis and Pattern Discovery,”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Machine Learning Research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25, pp. 1–24, 2025.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Waskom, M. L. Waskom, and Contributors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“Statistical Data Visualization Using Seaborn for Exploratory Data Analysis,”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Open Source Software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10, no. 101, pp. 1–7, 2025.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Sharma, P. Gupta, and N. Patel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 Intelligent Platform for Automated Data Profiling, Pattern Discovery, and Insight Generation,”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Data Science and Analytics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2, pp. 145–158, 2026.</a:t>
            </a:r>
          </a:p>
        </p:txBody>
      </p:sp>
    </p:spTree>
    <p:extLst>
      <p:ext uri="{BB962C8B-B14F-4D97-AF65-F5344CB8AC3E}">
        <p14:creationId xmlns:p14="http://schemas.microsoft.com/office/powerpoint/2010/main" val="19638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1076</Words>
  <Application>Microsoft Office PowerPoint</Application>
  <PresentationFormat>Widescreen</PresentationFormat>
  <Paragraphs>109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G VEDAVIKAS GOWD</cp:lastModifiedBy>
  <cp:revision>10</cp:revision>
  <dcterms:created xsi:type="dcterms:W3CDTF">2026-05-12T03:48:28Z</dcterms:created>
  <dcterms:modified xsi:type="dcterms:W3CDTF">2026-08-31T05:46:43Z</dcterms:modified>
</cp:coreProperties>
</file>